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4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Barlow Semi-Bold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  <p:embeddedFont>
      <p:font typeface="Barlow Bold" panose="020B0604020202020204" charset="0"/>
      <p:regular r:id="rId24"/>
    </p:embeddedFont>
    <p:embeddedFont>
      <p:font typeface="Garet" panose="020B0604020202020204" charset="0"/>
      <p:regular r:id="rId25"/>
    </p:embeddedFont>
    <p:embeddedFont>
      <p:font typeface="Barlow Medium" panose="020B0604020202020204" charset="0"/>
      <p:regular r:id="rId26"/>
    </p:embeddedFont>
    <p:embeddedFont>
      <p:font typeface="Barlow Medium Italics" panose="020B0604020202020204" charset="0"/>
      <p:regular r:id="rId27"/>
    </p:embeddedFont>
    <p:embeddedFont>
      <p:font typeface="Barlow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69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6364277"/>
            <a:ext cx="13452126" cy="41391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7574" y="6365768"/>
            <a:ext cx="4615662" cy="41541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3885117"/>
            <a:ext cx="13452128" cy="24904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667573" y="3885117"/>
            <a:ext cx="4615664" cy="249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0483" y="4100564"/>
            <a:ext cx="12216201" cy="2059605"/>
          </a:xfrm>
        </p:spPr>
        <p:txBody>
          <a:bodyPr anchor="b">
            <a:noAutofit/>
          </a:bodyPr>
          <a:lstStyle>
            <a:lvl1pPr algn="r">
              <a:defRPr sz="8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0483" y="6591059"/>
            <a:ext cx="12216201" cy="1676531"/>
          </a:xfrm>
        </p:spPr>
        <p:txBody>
          <a:bodyPr>
            <a:normAutofit/>
          </a:bodyPr>
          <a:lstStyle>
            <a:lvl1pPr marL="0" indent="0" algn="r">
              <a:buNone/>
              <a:defRPr sz="30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883019" y="4125506"/>
            <a:ext cx="1757832" cy="203466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5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2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6130361"/>
            <a:ext cx="15656718" cy="481746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37" y="6131852"/>
            <a:ext cx="2404496" cy="2164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3" y="4089401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5878738" y="4089401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83" y="4304843"/>
            <a:ext cx="14420790" cy="1636182"/>
          </a:xfrm>
        </p:spPr>
        <p:txBody>
          <a:bodyPr anchor="ctr">
            <a:norm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0483" y="6348257"/>
            <a:ext cx="14420790" cy="2556026"/>
          </a:xfrm>
        </p:spPr>
        <p:txBody>
          <a:bodyPr>
            <a:normAutofit/>
          </a:bodyPr>
          <a:lstStyle>
            <a:lvl1pPr marL="0" indent="0" algn="r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094183" y="4304843"/>
            <a:ext cx="1731227" cy="1636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22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0480" y="3505310"/>
            <a:ext cx="7047537" cy="539897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1185" y="3505310"/>
            <a:ext cx="7050087" cy="539897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79" y="1129844"/>
            <a:ext cx="14420795" cy="162140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9526" y="3505310"/>
            <a:ext cx="6708491" cy="103970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0484" y="4545013"/>
            <a:ext cx="7047533" cy="43592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30231" y="3505310"/>
            <a:ext cx="6711042" cy="103811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91185" y="4545013"/>
            <a:ext cx="7050089" cy="43592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3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4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82" y="1129841"/>
            <a:ext cx="14420789" cy="1621410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8769" y="3505310"/>
            <a:ext cx="8412504" cy="53989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0483" y="3505309"/>
            <a:ext cx="5685117" cy="5398976"/>
          </a:xfrm>
        </p:spPr>
        <p:txBody>
          <a:bodyPr anchor="ctr"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61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85" y="1129842"/>
            <a:ext cx="14420786" cy="1621407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02500" y="3505311"/>
            <a:ext cx="8138774" cy="5398968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0485" y="3505310"/>
            <a:ext cx="5814384" cy="5398973"/>
          </a:xfrm>
        </p:spPr>
        <p:txBody>
          <a:bodyPr anchor="ctr"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5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8892942"/>
            <a:ext cx="15656718" cy="481746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8894433"/>
            <a:ext cx="2404496" cy="2164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851982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5878741" y="6851982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84" y="7067425"/>
            <a:ext cx="14420789" cy="67957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0484" y="914396"/>
            <a:ext cx="14420789" cy="5384363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0478" y="7754375"/>
            <a:ext cx="14420793" cy="934457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094183" y="7066964"/>
            <a:ext cx="1731227" cy="1636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2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8892942"/>
            <a:ext cx="15656718" cy="481746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8894433"/>
            <a:ext cx="2404496" cy="2164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851982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5878741" y="6851982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83" y="914396"/>
            <a:ext cx="14420787" cy="5389125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0484" y="7067423"/>
            <a:ext cx="14420789" cy="1636184"/>
          </a:xfrm>
        </p:spPr>
        <p:txBody>
          <a:bodyPr anchor="ctr"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094183" y="7067423"/>
            <a:ext cx="1731227" cy="1636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5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8892942"/>
            <a:ext cx="15656718" cy="481746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8894433"/>
            <a:ext cx="2404496" cy="21640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6851982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5878741" y="6851982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785" y="914398"/>
            <a:ext cx="13078316" cy="4554092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103433" y="5480068"/>
            <a:ext cx="12234869" cy="823452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0484" y="7067423"/>
            <a:ext cx="14420789" cy="1636184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094183" y="7064888"/>
            <a:ext cx="1731227" cy="1636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75358" y="112217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08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94214" y="455028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8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3850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8892942"/>
            <a:ext cx="15656718" cy="481746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8894433"/>
            <a:ext cx="2404496" cy="21640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6851982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5878741" y="6851982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78" y="7067423"/>
            <a:ext cx="14420793" cy="88280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0480" y="7950224"/>
            <a:ext cx="14420793" cy="753383"/>
          </a:xfrm>
        </p:spPr>
        <p:txBody>
          <a:bodyPr anchor="t"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094183" y="7064888"/>
            <a:ext cx="1731227" cy="1636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99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03833" y="1129842"/>
            <a:ext cx="14437440" cy="162140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91419" y="3505310"/>
            <a:ext cx="4605051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20483" y="4534010"/>
            <a:ext cx="4574553" cy="437027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34038" y="3505310"/>
            <a:ext cx="459486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918205" y="4534010"/>
            <a:ext cx="4594860" cy="437027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836235" y="3505310"/>
            <a:ext cx="460503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836235" y="4534010"/>
            <a:ext cx="4605038" cy="437027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41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20483" y="1129842"/>
            <a:ext cx="14420790" cy="162140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20478" y="6446255"/>
            <a:ext cx="457455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0478" y="3505310"/>
            <a:ext cx="4574558" cy="2286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20478" y="7310648"/>
            <a:ext cx="4574558" cy="1593633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18207" y="6446255"/>
            <a:ext cx="459486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918205" y="3505310"/>
            <a:ext cx="4594860" cy="2286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916176" y="7310646"/>
            <a:ext cx="4600946" cy="1593633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846018" y="6446255"/>
            <a:ext cx="459525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846016" y="3505310"/>
            <a:ext cx="4595258" cy="2286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845830" y="7310643"/>
            <a:ext cx="4601345" cy="1593633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50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955360"/>
            <a:ext cx="15656718" cy="481746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740" y="2956851"/>
            <a:ext cx="2404496" cy="2164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914400"/>
            <a:ext cx="15656718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5878741" y="914400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08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12174311" y="2804093"/>
            <a:ext cx="7660482" cy="205229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14802304" y="8058605"/>
            <a:ext cx="2404496" cy="20522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193847" y="914396"/>
            <a:ext cx="1610703" cy="653064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0483" y="914396"/>
            <a:ext cx="13305006" cy="798988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210689" y="8904281"/>
            <a:ext cx="41148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0482" y="8904283"/>
            <a:ext cx="9190208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46326" y="8097950"/>
            <a:ext cx="1731227" cy="1636184"/>
          </a:xfrm>
        </p:spPr>
        <p:txBody>
          <a:bodyPr anchor="t"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7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0482" y="1129842"/>
            <a:ext cx="14420792" cy="1621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0482" y="3505310"/>
            <a:ext cx="14420792" cy="5398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26472" y="8904281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0482" y="8904283"/>
            <a:ext cx="1030599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94183" y="1129841"/>
            <a:ext cx="1731227" cy="163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150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68" r:id="rId1"/>
    <p:sldLayoutId id="2147484469" r:id="rId2"/>
    <p:sldLayoutId id="2147484470" r:id="rId3"/>
    <p:sldLayoutId id="2147484471" r:id="rId4"/>
    <p:sldLayoutId id="2147484472" r:id="rId5"/>
    <p:sldLayoutId id="2147484473" r:id="rId6"/>
    <p:sldLayoutId id="2147484474" r:id="rId7"/>
    <p:sldLayoutId id="2147484475" r:id="rId8"/>
    <p:sldLayoutId id="2147484476" r:id="rId9"/>
    <p:sldLayoutId id="2147484477" r:id="rId10"/>
    <p:sldLayoutId id="2147484478" r:id="rId11"/>
    <p:sldLayoutId id="2147484479" r:id="rId12"/>
    <p:sldLayoutId id="2147484480" r:id="rId13"/>
    <p:sldLayoutId id="2147484481" r:id="rId14"/>
    <p:sldLayoutId id="2147484482" r:id="rId15"/>
    <p:sldLayoutId id="2147484483" r:id="rId16"/>
    <p:sldLayoutId id="2147484484" r:id="rId17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18.sv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microsoft.com/office/2007/relationships/hdphoto" Target="../media/hdphoto1.wdp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svg"/><Relationship Id="rId5" Type="http://schemas.openxmlformats.org/officeDocument/2006/relationships/image" Target="../media/image22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 hidden="1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02</a:t>
            </a:r>
          </a:p>
        </p:txBody>
      </p:sp>
      <p:sp>
        <p:nvSpPr>
          <p:cNvPr id="3" name="Freeform 3" hidden="1"/>
          <p:cNvSpPr/>
          <p:nvPr/>
        </p:nvSpPr>
        <p:spPr>
          <a:xfrm>
            <a:off x="14309762" y="1467788"/>
            <a:ext cx="2274977" cy="2274977"/>
          </a:xfrm>
          <a:custGeom>
            <a:avLst/>
            <a:gdLst/>
            <a:ahLst/>
            <a:cxnLst/>
            <a:rect l="l" t="t" r="r" b="b"/>
            <a:pathLst>
              <a:path w="2274977" h="2274977">
                <a:moveTo>
                  <a:pt x="0" y="0"/>
                </a:moveTo>
                <a:lnTo>
                  <a:pt x="2274976" y="0"/>
                </a:lnTo>
                <a:lnTo>
                  <a:pt x="2274976" y="2274977"/>
                </a:lnTo>
                <a:lnTo>
                  <a:pt x="0" y="2274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hidden="1"/>
          <p:cNvSpPr/>
          <p:nvPr/>
        </p:nvSpPr>
        <p:spPr>
          <a:xfrm>
            <a:off x="13234911" y="2328734"/>
            <a:ext cx="2212339" cy="553085"/>
          </a:xfrm>
          <a:custGeom>
            <a:avLst/>
            <a:gdLst/>
            <a:ahLst/>
            <a:cxnLst/>
            <a:rect l="l" t="t" r="r" b="b"/>
            <a:pathLst>
              <a:path w="2212339" h="553085">
                <a:moveTo>
                  <a:pt x="0" y="0"/>
                </a:moveTo>
                <a:lnTo>
                  <a:pt x="2212339" y="0"/>
                </a:lnTo>
                <a:lnTo>
                  <a:pt x="2212339" y="553085"/>
                </a:lnTo>
                <a:lnTo>
                  <a:pt x="0" y="55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 hidden="1"/>
          <p:cNvGrpSpPr/>
          <p:nvPr/>
        </p:nvGrpSpPr>
        <p:grpSpPr>
          <a:xfrm>
            <a:off x="1028700" y="1013155"/>
            <a:ext cx="10865999" cy="3288641"/>
            <a:chOff x="0" y="0"/>
            <a:chExt cx="14487999" cy="4384855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4487999" cy="3276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u="none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How to Use this Presentation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494796"/>
              <a:ext cx="14487999" cy="89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1" i="1">
                  <a:solidFill>
                    <a:srgbClr val="0BB6BC"/>
                  </a:solidFill>
                  <a:latin typeface="Barlow Medium Italics"/>
                  <a:ea typeface="Barlow Medium Italics"/>
                  <a:cs typeface="Barlow Medium Italics"/>
                  <a:sym typeface="Barlow Medium Italics"/>
                </a:rPr>
                <a:t>Present with ease and wow your audience</a:t>
              </a:r>
            </a:p>
          </p:txBody>
        </p:sp>
      </p:grpSp>
      <p:sp>
        <p:nvSpPr>
          <p:cNvPr id="8" name="TextBox 8" hidden="1"/>
          <p:cNvSpPr txBox="1"/>
          <p:nvPr/>
        </p:nvSpPr>
        <p:spPr>
          <a:xfrm>
            <a:off x="1028700" y="5076825"/>
            <a:ext cx="12024357" cy="3919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Customize with text and photos. 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Add elements from the library or upload from your drive. 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Apply page animations and transitions to emphasize ideas. 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Use point forms and short sentences instate of long paragraphs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Use the PLP pitch deck guide and follow the protocol on slides</a:t>
            </a:r>
          </a:p>
          <a:p>
            <a:pPr algn="l">
              <a:lnSpc>
                <a:spcPts val="4479"/>
              </a:lnSpc>
            </a:pPr>
            <a:endParaRPr lang="en-US" sz="3199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Lastly “</a:t>
            </a:r>
            <a:r>
              <a:rPr lang="en-US" sz="31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PLEASE DELETE THIS SLIDE WHEN YOU ARE DONE!</a:t>
            </a:r>
            <a:r>
              <a:rPr lang="en-US" sz="3199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B6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52450"/>
            <a:ext cx="9601200" cy="11544300"/>
          </a:xfrm>
          <a:custGeom>
            <a:avLst/>
            <a:gdLst/>
            <a:ahLst/>
            <a:cxnLst/>
            <a:rect l="l" t="t" r="r" b="b"/>
            <a:pathLst>
              <a:path w="9601200" h="115443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5381" t="-2505" b="-1008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165600"/>
            <a:ext cx="6994911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 dirty="0" smtClean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 THE CHALLENGE CONQUEROR</a:t>
            </a:r>
            <a:endParaRPr lang="en-US" sz="8000" b="1" dirty="0">
              <a:solidFill>
                <a:srgbClr val="000000"/>
              </a:solidFill>
              <a:latin typeface="Barlow Semi-Bold"/>
              <a:ea typeface="Barlow Semi-Bold"/>
              <a:cs typeface="Barlow Semi-Bold"/>
              <a:sym typeface="Barlow Semi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29257" y="9576600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01</a:t>
            </a:r>
          </a:p>
        </p:txBody>
      </p:sp>
      <p:sp>
        <p:nvSpPr>
          <p:cNvPr id="5" name="Freeform 5"/>
          <p:cNvSpPr/>
          <p:nvPr/>
        </p:nvSpPr>
        <p:spPr>
          <a:xfrm>
            <a:off x="11110869" y="1593957"/>
            <a:ext cx="5621312" cy="7251486"/>
          </a:xfrm>
          <a:custGeom>
            <a:avLst/>
            <a:gdLst/>
            <a:ahLst/>
            <a:cxnLst/>
            <a:rect l="l" t="t" r="r" b="b"/>
            <a:pathLst>
              <a:path w="5621312" h="7251486">
                <a:moveTo>
                  <a:pt x="0" y="0"/>
                </a:moveTo>
                <a:lnTo>
                  <a:pt x="5621312" y="0"/>
                </a:lnTo>
                <a:lnTo>
                  <a:pt x="5621312" y="7251486"/>
                </a:lnTo>
                <a:lnTo>
                  <a:pt x="0" y="7251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682" r="-3581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3663" y="143884"/>
            <a:ext cx="1837509" cy="1837509"/>
          </a:xfrm>
          <a:custGeom>
            <a:avLst/>
            <a:gdLst/>
            <a:ahLst/>
            <a:cxnLst/>
            <a:rect l="l" t="t" r="r" b="b"/>
            <a:pathLst>
              <a:path w="1837509" h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5-Point Star 6"/>
          <p:cNvSpPr/>
          <p:nvPr/>
        </p:nvSpPr>
        <p:spPr>
          <a:xfrm>
            <a:off x="2667000" y="6477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7315200" y="4533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5-Point Star 8"/>
          <p:cNvSpPr/>
          <p:nvPr/>
        </p:nvSpPr>
        <p:spPr>
          <a:xfrm>
            <a:off x="1428143" y="8343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258270" y="-349930"/>
            <a:ext cx="7708159" cy="10986860"/>
          </a:xfrm>
          <a:prstGeom prst="rect">
            <a:avLst/>
          </a:prstGeom>
          <a:solidFill>
            <a:srgbClr val="0BB6BC"/>
          </a:solidFill>
        </p:spPr>
      </p:sp>
      <p:grpSp>
        <p:nvGrpSpPr>
          <p:cNvPr id="3" name="Group 3"/>
          <p:cNvGrpSpPr/>
          <p:nvPr/>
        </p:nvGrpSpPr>
        <p:grpSpPr>
          <a:xfrm>
            <a:off x="1028700" y="1866900"/>
            <a:ext cx="7363108" cy="7463582"/>
            <a:chOff x="0" y="0"/>
            <a:chExt cx="9817477" cy="9951445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9817477" cy="9951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u="none" dirty="0" smtClean="0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</a:t>
              </a:r>
              <a:r>
                <a:rPr lang="en-US" sz="8100" b="1" dirty="0" smtClean="0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 good number of people have a problem to over come their personal challenges</a:t>
              </a:r>
              <a:endParaRPr lang="en-US" sz="8100" b="1" u="none" dirty="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748941"/>
              <a:ext cx="9817477" cy="686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 lang="en-US" sz="3199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0663681" y="1028700"/>
            <a:ext cx="6595619" cy="8229600"/>
          </a:xfrm>
          <a:custGeom>
            <a:avLst/>
            <a:gdLst/>
            <a:ahLst/>
            <a:cxnLst/>
            <a:rect l="l" t="t" r="r" b="b"/>
            <a:pathLst>
              <a:path w="6595619" h="8229600">
                <a:moveTo>
                  <a:pt x="0" y="0"/>
                </a:moveTo>
                <a:lnTo>
                  <a:pt x="6595619" y="0"/>
                </a:lnTo>
                <a:lnTo>
                  <a:pt x="6595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08" b="-1010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</a:t>
            </a:r>
          </a:p>
        </p:txBody>
      </p:sp>
      <p:sp>
        <p:nvSpPr>
          <p:cNvPr id="8" name="Freeform 8"/>
          <p:cNvSpPr/>
          <p:nvPr/>
        </p:nvSpPr>
        <p:spPr>
          <a:xfrm>
            <a:off x="629257" y="893789"/>
            <a:ext cx="1079292" cy="269823"/>
          </a:xfrm>
          <a:custGeom>
            <a:avLst/>
            <a:gdLst/>
            <a:ahLst/>
            <a:cxnLst/>
            <a:rect l="l" t="t" r="r" b="b"/>
            <a:pathLst>
              <a:path w="1079292" h="269823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5-Point Star 8"/>
          <p:cNvSpPr/>
          <p:nvPr/>
        </p:nvSpPr>
        <p:spPr>
          <a:xfrm>
            <a:off x="9525000" y="1866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/>
          <p:cNvSpPr/>
          <p:nvPr/>
        </p:nvSpPr>
        <p:spPr>
          <a:xfrm>
            <a:off x="3124200" y="11811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/>
          <p:cNvSpPr/>
          <p:nvPr/>
        </p:nvSpPr>
        <p:spPr>
          <a:xfrm>
            <a:off x="6477000" y="75057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5-Point Star 11"/>
          <p:cNvSpPr/>
          <p:nvPr/>
        </p:nvSpPr>
        <p:spPr>
          <a:xfrm>
            <a:off x="629257" y="91821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5-Point Star 12"/>
          <p:cNvSpPr/>
          <p:nvPr/>
        </p:nvSpPr>
        <p:spPr>
          <a:xfrm>
            <a:off x="0" y="4678605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5-Point Star 13"/>
          <p:cNvSpPr/>
          <p:nvPr/>
        </p:nvSpPr>
        <p:spPr>
          <a:xfrm>
            <a:off x="8991600" y="4678605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444798"/>
            <a:ext cx="1059192" cy="1059192"/>
            <a:chOff x="0" y="0"/>
            <a:chExt cx="1412257" cy="141225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12257" cy="1412257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0113E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474293" y="543843"/>
              <a:ext cx="463671" cy="324570"/>
            </a:xfrm>
            <a:custGeom>
              <a:avLst/>
              <a:gdLst/>
              <a:ahLst/>
              <a:cxnLst/>
              <a:rect l="l" t="t" r="r" b="b"/>
              <a:pathLst>
                <a:path w="463671" h="324570">
                  <a:moveTo>
                    <a:pt x="0" y="0"/>
                  </a:moveTo>
                  <a:lnTo>
                    <a:pt x="463671" y="0"/>
                  </a:lnTo>
                  <a:lnTo>
                    <a:pt x="463671" y="324570"/>
                  </a:lnTo>
                  <a:lnTo>
                    <a:pt x="0" y="32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06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game provides the player with challenge card .</a:t>
            </a:r>
          </a:p>
          <a:p>
            <a:r>
              <a:rPr lang="en-US" dirty="0" smtClean="0"/>
              <a:t>The card contains some one with the same challenge as the one the challenger had identified.</a:t>
            </a:r>
          </a:p>
          <a:p>
            <a:r>
              <a:rPr lang="en-US" dirty="0" smtClean="0"/>
              <a:t>The player has to help the person to overcome the challenge.</a:t>
            </a:r>
          </a:p>
          <a:p>
            <a:r>
              <a:rPr lang="en-US" dirty="0" smtClean="0"/>
              <a:t>When the player successfully overcome a challenge they get a reward by updating their challenge card this help them identify and understand their personal challenges</a:t>
            </a:r>
            <a:endParaRPr lang="en-US" dirty="0"/>
          </a:p>
        </p:txBody>
      </p:sp>
      <p:sp>
        <p:nvSpPr>
          <p:cNvPr id="22" name="5-Point Star 21"/>
          <p:cNvSpPr/>
          <p:nvPr/>
        </p:nvSpPr>
        <p:spPr>
          <a:xfrm>
            <a:off x="9829800" y="2667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5562600" y="86487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5-Point Star 23"/>
          <p:cNvSpPr/>
          <p:nvPr/>
        </p:nvSpPr>
        <p:spPr>
          <a:xfrm>
            <a:off x="15701050" y="5295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oon 24"/>
          <p:cNvSpPr/>
          <p:nvPr/>
        </p:nvSpPr>
        <p:spPr>
          <a:xfrm>
            <a:off x="7467600" y="2095500"/>
            <a:ext cx="457200" cy="9144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Heart 25"/>
          <p:cNvSpPr/>
          <p:nvPr/>
        </p:nvSpPr>
        <p:spPr>
          <a:xfrm>
            <a:off x="15468600" y="3417782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Heart 26"/>
          <p:cNvSpPr/>
          <p:nvPr/>
        </p:nvSpPr>
        <p:spPr>
          <a:xfrm>
            <a:off x="11582400" y="74295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Heart 27"/>
          <p:cNvSpPr/>
          <p:nvPr/>
        </p:nvSpPr>
        <p:spPr>
          <a:xfrm>
            <a:off x="381000" y="30099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31599" y="2656607"/>
            <a:ext cx="2651460" cy="5246370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159559" y="2656607"/>
            <a:ext cx="2651460" cy="5246370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28700" y="667172"/>
            <a:ext cx="86637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Product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90419" y="2476500"/>
            <a:ext cx="5968881" cy="141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  <a:spcBef>
                <a:spcPct val="0"/>
              </a:spcBef>
            </a:pPr>
            <a:r>
              <a:rPr lang="en-US" sz="2899" dirty="0" smtClean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My game tries to help  different  people overcome their personal challenges and build confidence</a:t>
            </a:r>
            <a:endParaRPr lang="en-US" sz="2899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</a:p>
        </p:txBody>
      </p:sp>
      <p:sp>
        <p:nvSpPr>
          <p:cNvPr id="27" name="5-Point Star 26"/>
          <p:cNvSpPr/>
          <p:nvPr/>
        </p:nvSpPr>
        <p:spPr>
          <a:xfrm>
            <a:off x="10134600" y="69723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5-Point Star 27"/>
          <p:cNvSpPr/>
          <p:nvPr/>
        </p:nvSpPr>
        <p:spPr>
          <a:xfrm>
            <a:off x="14401800" y="1104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5-Point Star 28"/>
          <p:cNvSpPr/>
          <p:nvPr/>
        </p:nvSpPr>
        <p:spPr>
          <a:xfrm>
            <a:off x="6347205" y="667172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5-Point Star 29"/>
          <p:cNvSpPr/>
          <p:nvPr/>
        </p:nvSpPr>
        <p:spPr>
          <a:xfrm>
            <a:off x="5105400" y="389099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5-Point Star 30"/>
          <p:cNvSpPr/>
          <p:nvPr/>
        </p:nvSpPr>
        <p:spPr>
          <a:xfrm>
            <a:off x="15697200" y="66675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5-Point Star 31"/>
          <p:cNvSpPr/>
          <p:nvPr/>
        </p:nvSpPr>
        <p:spPr>
          <a:xfrm>
            <a:off x="4191000" y="8724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5-Point Star 32"/>
          <p:cNvSpPr/>
          <p:nvPr/>
        </p:nvSpPr>
        <p:spPr>
          <a:xfrm>
            <a:off x="13335000" y="62865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Sequential Access Storage 33"/>
          <p:cNvSpPr/>
          <p:nvPr/>
        </p:nvSpPr>
        <p:spPr>
          <a:xfrm>
            <a:off x="12954000" y="7731252"/>
            <a:ext cx="612648" cy="612648"/>
          </a:xfrm>
          <a:prstGeom prst="flowChartMagnetic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Heart 34"/>
          <p:cNvSpPr/>
          <p:nvPr/>
        </p:nvSpPr>
        <p:spPr>
          <a:xfrm>
            <a:off x="7261605" y="480539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00057" y="1596726"/>
            <a:ext cx="9082750" cy="1898690"/>
            <a:chOff x="0" y="0"/>
            <a:chExt cx="12110334" cy="2531587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2110334" cy="16585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dirty="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4</a:t>
              </a:r>
              <a:r>
                <a:rPr lang="en-US" sz="8100" b="1" u="none" dirty="0" smtClean="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</a:t>
              </a:r>
              <a:r>
                <a:rPr lang="en-US" sz="8100" b="1" u="none" dirty="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out 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23985"/>
              <a:ext cx="12110334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Elaborate on the featured statistic.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85850" y="4762500"/>
            <a:ext cx="9082750" cy="1898690"/>
            <a:chOff x="0" y="0"/>
            <a:chExt cx="12110334" cy="2531587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2110334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u="none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95%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823985"/>
              <a:ext cx="12110334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Elaborate on the featured statistic.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100057" y="7337777"/>
            <a:ext cx="9082750" cy="1898690"/>
            <a:chOff x="0" y="0"/>
            <a:chExt cx="12110334" cy="2531587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12110334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u="none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123 million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823985"/>
              <a:ext cx="12110334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Elaborate on the featured statistic.</a:t>
              </a: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2" y="4493818"/>
            <a:ext cx="4249772" cy="247903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2" y="7932974"/>
            <a:ext cx="4249772" cy="134576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52" y="1930507"/>
            <a:ext cx="4249772" cy="191905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8682" y="0"/>
            <a:ext cx="908275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Target Market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13258800" y="1228725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5-Point Star 16"/>
          <p:cNvSpPr/>
          <p:nvPr/>
        </p:nvSpPr>
        <p:spPr>
          <a:xfrm>
            <a:off x="1752600" y="12573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5-Point Star 17"/>
          <p:cNvSpPr/>
          <p:nvPr/>
        </p:nvSpPr>
        <p:spPr>
          <a:xfrm>
            <a:off x="12496800" y="4152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5-Point Star 18"/>
          <p:cNvSpPr/>
          <p:nvPr/>
        </p:nvSpPr>
        <p:spPr>
          <a:xfrm>
            <a:off x="2514600" y="6618704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5-Point Star 19"/>
          <p:cNvSpPr/>
          <p:nvPr/>
        </p:nvSpPr>
        <p:spPr>
          <a:xfrm>
            <a:off x="14706600" y="8705766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5638800" y="3849563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105400" y="10287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052" y="1109577"/>
            <a:ext cx="8904202" cy="827039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2386178"/>
            <a:ext cx="7372995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 dirty="0" smtClean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We have to consider the targeted profit, pricing strategy  and market demand which will give us an indication of the potential market size</a:t>
            </a:r>
            <a:endParaRPr lang="en-US" sz="2999" u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4199"/>
              </a:lnSpc>
            </a:pPr>
            <a:endParaRPr lang="en-US" sz="2999" u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622869"/>
            <a:ext cx="689673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Market Size</a:t>
            </a:r>
          </a:p>
        </p:txBody>
      </p:sp>
      <p:sp>
        <p:nvSpPr>
          <p:cNvPr id="5" name="Heart 4"/>
          <p:cNvSpPr/>
          <p:nvPr/>
        </p:nvSpPr>
        <p:spPr>
          <a:xfrm>
            <a:off x="2590800" y="82677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on 5"/>
          <p:cNvSpPr/>
          <p:nvPr/>
        </p:nvSpPr>
        <p:spPr>
          <a:xfrm>
            <a:off x="9906000" y="1109577"/>
            <a:ext cx="457200" cy="9144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/>
          <p:cNvSpPr/>
          <p:nvPr/>
        </p:nvSpPr>
        <p:spPr>
          <a:xfrm>
            <a:off x="16992600" y="89535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art 7"/>
          <p:cNvSpPr/>
          <p:nvPr/>
        </p:nvSpPr>
        <p:spPr>
          <a:xfrm>
            <a:off x="7315200" y="89535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3" name="AutoShape 3"/>
          <p:cNvSpPr/>
          <p:nvPr/>
        </p:nvSpPr>
        <p:spPr>
          <a:xfrm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0" y="0"/>
            <a:ext cx="6812379" cy="8998522"/>
            <a:chOff x="0" y="0"/>
            <a:chExt cx="6438900" cy="85051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38900" cy="8505190"/>
            </a:xfrm>
            <a:custGeom>
              <a:avLst/>
              <a:gdLst/>
              <a:ahLst/>
              <a:cxnLst/>
              <a:rect l="l" t="t" r="r" b="b"/>
              <a:pathLst>
                <a:path w="6438900" h="8505190">
                  <a:moveTo>
                    <a:pt x="4916170" y="8505190"/>
                  </a:moveTo>
                  <a:lnTo>
                    <a:pt x="4627880" y="8505190"/>
                  </a:lnTo>
                  <a:lnTo>
                    <a:pt x="0" y="8072120"/>
                  </a:lnTo>
                  <a:lnTo>
                    <a:pt x="0" y="4405630"/>
                  </a:lnTo>
                  <a:lnTo>
                    <a:pt x="910590" y="0"/>
                  </a:lnTo>
                  <a:lnTo>
                    <a:pt x="6438900" y="0"/>
                  </a:lnTo>
                  <a:lnTo>
                    <a:pt x="6438900" y="671830"/>
                  </a:lnTo>
                  <a:lnTo>
                    <a:pt x="4916170" y="8505190"/>
                  </a:lnTo>
                  <a:close/>
                </a:path>
              </a:pathLst>
            </a:custGeom>
            <a:blipFill>
              <a:blip r:embed="rId2"/>
              <a:stretch>
                <a:fillRect l="-65869" r="-65869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438900" cy="8505190"/>
            </a:xfrm>
            <a:custGeom>
              <a:avLst/>
              <a:gdLst/>
              <a:ahLst/>
              <a:cxnLst/>
              <a:rect l="l" t="t" r="r" b="b"/>
              <a:pathLst>
                <a:path w="6438900" h="8505190">
                  <a:moveTo>
                    <a:pt x="910590" y="0"/>
                  </a:moveTo>
                  <a:lnTo>
                    <a:pt x="1898650" y="289560"/>
                  </a:lnTo>
                  <a:lnTo>
                    <a:pt x="0" y="4405630"/>
                  </a:lnTo>
                  <a:lnTo>
                    <a:pt x="910590" y="0"/>
                  </a:lnTo>
                  <a:close/>
                  <a:moveTo>
                    <a:pt x="3253740" y="8047990"/>
                  </a:moveTo>
                  <a:lnTo>
                    <a:pt x="4916170" y="8505190"/>
                  </a:lnTo>
                  <a:lnTo>
                    <a:pt x="6438900" y="671830"/>
                  </a:lnTo>
                  <a:lnTo>
                    <a:pt x="3253740" y="8047990"/>
                  </a:lnTo>
                  <a:close/>
                </a:path>
              </a:pathLst>
            </a:custGeom>
            <a:solidFill>
              <a:srgbClr val="0BB6BC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375704" y="2057820"/>
            <a:ext cx="8473539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59"/>
              </a:lnSpc>
              <a:spcBef>
                <a:spcPct val="0"/>
              </a:spcBef>
            </a:pPr>
            <a:r>
              <a:rPr lang="en-US" sz="2899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en-US" sz="28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1129842"/>
            <a:ext cx="14437440" cy="1621407"/>
          </a:xfrm>
        </p:spPr>
        <p:txBody>
          <a:bodyPr/>
          <a:lstStyle/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Examples of other competitors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GAME OF LIFE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CARD GAMES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Why my game is unique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it focuses on career and finances ,some versions incorporate elements  of personal development , like overcoming obstacles</a:t>
            </a:r>
            <a:endParaRPr lang="en-US" sz="2000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US" dirty="0" smtClean="0"/>
              <a:t>The game help players identify and prioritize their values , which can be crucial step in personal growth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Many existing games have a broader focus on (</a:t>
            </a:r>
            <a:r>
              <a:rPr lang="en-US" dirty="0" err="1" smtClean="0">
                <a:solidFill>
                  <a:schemeClr val="bg1"/>
                </a:solidFill>
              </a:rPr>
              <a:t>career,finances,general</a:t>
            </a:r>
            <a:r>
              <a:rPr lang="en-US" dirty="0" smtClean="0">
                <a:solidFill>
                  <a:schemeClr val="bg1"/>
                </a:solidFill>
              </a:rPr>
              <a:t> life skills) rather than specifically addressing personal challenges and building confidence.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Heart 19"/>
          <p:cNvSpPr/>
          <p:nvPr/>
        </p:nvSpPr>
        <p:spPr>
          <a:xfrm>
            <a:off x="9829800" y="6948715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5-Point Star 20"/>
          <p:cNvSpPr/>
          <p:nvPr/>
        </p:nvSpPr>
        <p:spPr>
          <a:xfrm>
            <a:off x="5334000" y="6948715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Heart 21"/>
          <p:cNvSpPr/>
          <p:nvPr/>
        </p:nvSpPr>
        <p:spPr>
          <a:xfrm>
            <a:off x="16584641" y="4369703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15441273" y="7863115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oon 23"/>
          <p:cNvSpPr/>
          <p:nvPr/>
        </p:nvSpPr>
        <p:spPr>
          <a:xfrm>
            <a:off x="11734800" y="2057820"/>
            <a:ext cx="457200" cy="9144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76600" y="7577448"/>
            <a:ext cx="13944632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endParaRPr lang="en-US" sz="8100" b="1" dirty="0">
              <a:solidFill>
                <a:srgbClr val="0BB6BC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6" name="Freeform 6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174813"/>
            </a:stretch>
          </a:blipFill>
        </p:spPr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14608" y="1129842"/>
            <a:ext cx="14420792" cy="1621407"/>
          </a:xfrm>
          <a:effectLst>
            <a:glow rad="228600">
              <a:schemeClr val="accent3">
                <a:satMod val="175000"/>
                <a:alpha val="40000"/>
              </a:schemeClr>
            </a:glow>
            <a:reflection blurRad="6350" stA="50000" endA="300" endPos="90000" dist="50800" dir="5400000" sy="-100000" algn="bl" rotWithShape="0"/>
          </a:effectLst>
        </p:spPr>
        <p:txBody>
          <a:bodyPr/>
          <a:lstStyle/>
          <a:p>
            <a:r>
              <a:rPr lang="en-US" dirty="0" smtClean="0"/>
              <a:t>WHAT MAKES ME UNIQUE ?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90808" y="4392726"/>
            <a:ext cx="14420792" cy="5398974"/>
          </a:xfrm>
        </p:spPr>
        <p:txBody>
          <a:bodyPr/>
          <a:lstStyle/>
          <a:p>
            <a:r>
              <a:rPr lang="en-US" dirty="0" smtClean="0"/>
              <a:t>Challenger Conqueror emphasizes player agency by allowing them to define their own challenges and create personalized action plans unlike other organizations.</a:t>
            </a:r>
            <a:endParaRPr lang="en-US" dirty="0"/>
          </a:p>
        </p:txBody>
      </p:sp>
      <p:sp>
        <p:nvSpPr>
          <p:cNvPr id="9" name="Moon 8"/>
          <p:cNvSpPr/>
          <p:nvPr/>
        </p:nvSpPr>
        <p:spPr>
          <a:xfrm>
            <a:off x="12344400" y="6896100"/>
            <a:ext cx="457200" cy="9144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eart 9"/>
          <p:cNvSpPr/>
          <p:nvPr/>
        </p:nvSpPr>
        <p:spPr>
          <a:xfrm>
            <a:off x="5257800" y="84963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/>
          <p:cNvSpPr/>
          <p:nvPr/>
        </p:nvSpPr>
        <p:spPr>
          <a:xfrm>
            <a:off x="16002000" y="73533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078200" y="73533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105400" y="84201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eart 15"/>
          <p:cNvSpPr/>
          <p:nvPr/>
        </p:nvSpPr>
        <p:spPr>
          <a:xfrm>
            <a:off x="10668000" y="8953500"/>
            <a:ext cx="914400" cy="914400"/>
          </a:xfrm>
          <a:prstGeom prst="heart">
            <a:avLst/>
          </a:prstGeom>
          <a:solidFill>
            <a:srgbClr val="FFFF00"/>
          </a:solidFill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184150" dist="241300" dir="11520000" sx="110000" sy="110000" algn="ctr">
              <a:srgbClr val="000000">
                <a:alpha val="18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5-Point Star 16"/>
          <p:cNvSpPr/>
          <p:nvPr/>
        </p:nvSpPr>
        <p:spPr>
          <a:xfrm>
            <a:off x="3505200" y="6607126"/>
            <a:ext cx="914400" cy="914400"/>
          </a:xfrm>
          <a:prstGeom prst="star5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  <a:reflection blurRad="6350" stA="50000" endA="300" endPos="90000" dist="508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1703359" y="3357575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r>
              <a:rPr lang="en-US" dirty="0" smtClean="0"/>
              <a:t>Develop the game</a:t>
            </a:r>
            <a:endParaRPr lang="en-US" dirty="0"/>
          </a:p>
        </p:txBody>
      </p:sp>
      <p:sp>
        <p:nvSpPr>
          <p:cNvPr id="7" name="AutoShape 7"/>
          <p:cNvSpPr/>
          <p:nvPr/>
        </p:nvSpPr>
        <p:spPr>
          <a:xfrm>
            <a:off x="1703359" y="8136464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AutoShape 9"/>
          <p:cNvSpPr/>
          <p:nvPr/>
        </p:nvSpPr>
        <p:spPr>
          <a:xfrm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Box 10"/>
          <p:cNvSpPr txBox="1"/>
          <p:nvPr/>
        </p:nvSpPr>
        <p:spPr>
          <a:xfrm>
            <a:off x="6913736" y="2694518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75969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Box 13"/>
          <p:cNvSpPr txBox="1"/>
          <p:nvPr/>
        </p:nvSpPr>
        <p:spPr>
          <a:xfrm>
            <a:off x="11029376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3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AutoShape 15"/>
          <p:cNvSpPr/>
          <p:nvPr/>
        </p:nvSpPr>
        <p:spPr>
          <a:xfrm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Box 16"/>
          <p:cNvSpPr txBox="1"/>
          <p:nvPr/>
        </p:nvSpPr>
        <p:spPr>
          <a:xfrm>
            <a:off x="12982784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36191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68802" y="2696086"/>
            <a:ext cx="437069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Tasks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97743" y="6435948"/>
            <a:ext cx="444175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 smtClean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Test  the  game </a:t>
            </a:r>
            <a:endParaRPr lang="en-US" sz="2300" u="none" dirty="0">
              <a:solidFill>
                <a:srgbClr val="90113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997743" y="7039189"/>
            <a:ext cx="444175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 smtClean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Release the game </a:t>
            </a:r>
            <a:endParaRPr lang="en-US" sz="2300" u="none" dirty="0">
              <a:solidFill>
                <a:srgbClr val="90113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997743" y="7642429"/>
            <a:ext cx="444175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dirty="0" smtClean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Marker the game</a:t>
            </a:r>
            <a:endParaRPr lang="en-US" sz="2300" u="none" dirty="0">
              <a:solidFill>
                <a:srgbClr val="90113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673184" y="3424302"/>
            <a:ext cx="1972820" cy="0"/>
          </a:xfrm>
          <a:prstGeom prst="line">
            <a:avLst/>
          </a:prstGeom>
          <a:ln w="485775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7659594" y="4027543"/>
            <a:ext cx="2972328" cy="0"/>
          </a:xfrm>
          <a:prstGeom prst="line">
            <a:avLst/>
          </a:prstGeom>
          <a:ln w="485775" cap="flat">
            <a:solidFill>
              <a:srgbClr val="0BB6B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7659594" y="4603308"/>
            <a:ext cx="2012985" cy="0"/>
          </a:xfrm>
          <a:prstGeom prst="line">
            <a:avLst/>
          </a:prstGeom>
          <a:ln w="485775" cap="flat">
            <a:solidFill>
              <a:srgbClr val="FF66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2631287" y="6402324"/>
            <a:ext cx="2962913" cy="0"/>
          </a:xfrm>
          <a:prstGeom prst="line">
            <a:avLst/>
          </a:prstGeom>
          <a:ln w="485775" cap="flat">
            <a:solidFill>
              <a:srgbClr val="0831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14603759" y="6996645"/>
            <a:ext cx="1980882" cy="0"/>
          </a:xfrm>
          <a:prstGeom prst="line">
            <a:avLst/>
          </a:prstGeom>
          <a:ln w="485775" cap="flat">
            <a:solidFill>
              <a:srgbClr val="CF6E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15598405" y="7590073"/>
            <a:ext cx="986236" cy="0"/>
          </a:xfrm>
          <a:prstGeom prst="line">
            <a:avLst/>
          </a:prstGeom>
          <a:ln w="485775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>
            <a:off x="10645368" y="5214576"/>
            <a:ext cx="3966801" cy="0"/>
          </a:xfrm>
          <a:prstGeom prst="line">
            <a:avLst/>
          </a:prstGeom>
          <a:ln w="485775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>
            <a:off x="9672578" y="5809789"/>
            <a:ext cx="3944944" cy="0"/>
          </a:xfrm>
          <a:prstGeom prst="line">
            <a:avLst/>
          </a:prstGeom>
          <a:ln w="48577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TextBox 35"/>
          <p:cNvSpPr txBox="1"/>
          <p:nvPr/>
        </p:nvSpPr>
        <p:spPr>
          <a:xfrm>
            <a:off x="1703359" y="343008"/>
            <a:ext cx="14733814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Project Traction</a:t>
            </a:r>
          </a:p>
        </p:txBody>
      </p:sp>
      <p:sp>
        <p:nvSpPr>
          <p:cNvPr id="36" name="AutoShape 3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7" name="TextBox 3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sp>
        <p:nvSpPr>
          <p:cNvPr id="38" name="5-Point Star 37"/>
          <p:cNvSpPr/>
          <p:nvPr/>
        </p:nvSpPr>
        <p:spPr>
          <a:xfrm>
            <a:off x="6673184" y="7449558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Heart 38"/>
          <p:cNvSpPr/>
          <p:nvPr/>
        </p:nvSpPr>
        <p:spPr>
          <a:xfrm>
            <a:off x="17297400" y="48387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028700" y="2583708"/>
            <a:ext cx="6200420" cy="6200420"/>
          </a:xfrm>
          <a:custGeom>
            <a:avLst/>
            <a:gdLst/>
            <a:ahLst/>
            <a:cxnLst/>
            <a:rect l="l" t="t" r="r" b="b"/>
            <a:pathLst>
              <a:path w="6200420" h="6200420">
                <a:moveTo>
                  <a:pt x="0" y="0"/>
                </a:moveTo>
                <a:lnTo>
                  <a:pt x="6200420" y="0"/>
                </a:lnTo>
                <a:lnTo>
                  <a:pt x="6200420" y="6200420"/>
                </a:lnTo>
                <a:lnTo>
                  <a:pt x="0" y="6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48567" y="845620"/>
            <a:ext cx="7810733" cy="8053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</a:pPr>
            <a:endParaRPr dirty="0"/>
          </a:p>
          <a:p>
            <a:pPr algn="ctr">
              <a:lnSpc>
                <a:spcPts val="4184"/>
              </a:lnSpc>
            </a:pPr>
            <a:endParaRPr dirty="0"/>
          </a:p>
          <a:p>
            <a:pPr algn="ctr">
              <a:lnSpc>
                <a:spcPts val="4184"/>
              </a:lnSpc>
            </a:pPr>
            <a:endParaRPr dirty="0"/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8231"/>
              </a:lnSpc>
            </a:pPr>
            <a:endParaRPr lang="en-US" sz="2988" spc="1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19200" y="679077"/>
            <a:ext cx="14107085" cy="2100795"/>
          </a:xfrm>
        </p:spPr>
        <p:txBody>
          <a:bodyPr/>
          <a:lstStyle/>
          <a:p>
            <a:r>
              <a:rPr lang="en-US" dirty="0" smtClean="0"/>
              <a:t>HOW TO GENERATE FUNDS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2">
                    <a:lumMod val="10000"/>
                  </a:schemeClr>
                </a:solidFill>
              </a:rPr>
              <a:t>By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direct sales-I can sell the game through online platforms</a:t>
            </a:r>
          </a:p>
          <a:p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Through licensing I can license the game to educational institutions and therapy centers.</a:t>
            </a:r>
          </a:p>
          <a:p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Not fo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r</a:t>
            </a: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getting through corporate partnerships by partnering with companies for team building activities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 smtClean="0"/>
              <a:t>Example of the margin </a:t>
            </a:r>
            <a:r>
              <a:rPr lang="en-US" sz="1800" dirty="0" smtClean="0"/>
              <a:t>calculation</a:t>
            </a:r>
          </a:p>
          <a:p>
            <a:r>
              <a:rPr lang="en-US" sz="1800" dirty="0" smtClean="0"/>
              <a:t>Selling price$25per game, production cost $5 per game ,marketing and distribution cost $3 per game ,fixed cost$ 10000(rent, salary , utility)</a:t>
            </a:r>
          </a:p>
          <a:p>
            <a:r>
              <a:rPr lang="en-US" sz="1800" dirty="0" smtClean="0"/>
              <a:t>CALCULATIONS</a:t>
            </a:r>
          </a:p>
          <a:p>
            <a:r>
              <a:rPr lang="en-US" sz="1800" dirty="0" smtClean="0"/>
              <a:t>Revenue per unit $25</a:t>
            </a:r>
          </a:p>
          <a:p>
            <a:r>
              <a:rPr lang="en-US" sz="1800" dirty="0" smtClean="0"/>
              <a:t>Cost of goods sold per unit $5 </a:t>
            </a:r>
          </a:p>
          <a:p>
            <a:r>
              <a:rPr lang="en-US" sz="1800" dirty="0" smtClean="0"/>
              <a:t>Gross profit per unit $20</a:t>
            </a:r>
          </a:p>
          <a:p>
            <a:r>
              <a:rPr lang="en-US" sz="1800" dirty="0" smtClean="0"/>
              <a:t>Net profit per unit $17</a:t>
            </a:r>
          </a:p>
          <a:p>
            <a:r>
              <a:rPr lang="en-US" sz="1800" dirty="0" smtClean="0"/>
              <a:t>Profit margin 68%</a:t>
            </a:r>
          </a:p>
          <a:p>
            <a:endParaRPr lang="en-US" dirty="0"/>
          </a:p>
        </p:txBody>
      </p:sp>
      <p:sp>
        <p:nvSpPr>
          <p:cNvPr id="11" name="5-Point Star 10"/>
          <p:cNvSpPr/>
          <p:nvPr/>
        </p:nvSpPr>
        <p:spPr>
          <a:xfrm>
            <a:off x="16611600" y="62865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eart 11"/>
          <p:cNvSpPr/>
          <p:nvPr/>
        </p:nvSpPr>
        <p:spPr>
          <a:xfrm>
            <a:off x="3200400" y="91059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on 12"/>
          <p:cNvSpPr/>
          <p:nvPr/>
        </p:nvSpPr>
        <p:spPr>
          <a:xfrm>
            <a:off x="10591800" y="9334500"/>
            <a:ext cx="457200" cy="9144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on 13"/>
          <p:cNvSpPr/>
          <p:nvPr/>
        </p:nvSpPr>
        <p:spPr>
          <a:xfrm>
            <a:off x="17050357" y="4000500"/>
            <a:ext cx="457200" cy="9144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17481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76755" y="2579698"/>
            <a:ext cx="11683751" cy="1072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2"/>
              </a:lnSpc>
            </a:pPr>
            <a:r>
              <a:rPr lang="en-US" sz="3586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Media out reach –I would share information about the game with local media outlets for advertisement.</a:t>
            </a:r>
          </a:p>
          <a:p>
            <a:pPr algn="l">
              <a:lnSpc>
                <a:spcPts val="4372"/>
              </a:lnSpc>
            </a:pPr>
            <a:r>
              <a:rPr lang="en-US" sz="358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86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would explore partnership with local and regional distributors who can reach a wider network of retailers.</a:t>
            </a:r>
          </a:p>
          <a:p>
            <a:pPr algn="l">
              <a:lnSpc>
                <a:spcPts val="4372"/>
              </a:lnSpc>
            </a:pPr>
            <a:r>
              <a:rPr lang="en-US" sz="358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endParaRPr lang="en-US" sz="3586" dirty="0" smtClean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r>
              <a:rPr lang="en-US" sz="3586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forgetting to utilize social media platforms( </a:t>
            </a:r>
            <a:r>
              <a:rPr lang="en-US" sz="358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3586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acebook ,  </a:t>
            </a:r>
            <a:r>
              <a:rPr lang="en-US" sz="358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586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nstagram</a:t>
            </a:r>
            <a:r>
              <a:rPr lang="en-US" sz="3586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,</a:t>
            </a:r>
            <a:r>
              <a:rPr lang="en-US" sz="358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586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iktok</a:t>
            </a:r>
            <a:r>
              <a:rPr lang="en-US" sz="3586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) to promote the game ,run targeted ads</a:t>
            </a: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82668" y="667172"/>
            <a:ext cx="13944632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 dirty="0" smtClean="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How I would reach my market.</a:t>
            </a:r>
            <a:endParaRPr lang="en-US" sz="8100" b="1" dirty="0">
              <a:solidFill>
                <a:srgbClr val="0BB6BC"/>
              </a:solidFill>
              <a:latin typeface="Barlow Semi-Bold"/>
              <a:ea typeface="Barlow Semi-Bold"/>
              <a:cs typeface="Barlow Semi-Bold"/>
              <a:sym typeface="Barlow Semi-Bold"/>
            </a:endParaRPr>
          </a:p>
        </p:txBody>
      </p:sp>
      <p:sp>
        <p:nvSpPr>
          <p:cNvPr id="6" name="Heart 5"/>
          <p:cNvSpPr/>
          <p:nvPr/>
        </p:nvSpPr>
        <p:spPr>
          <a:xfrm>
            <a:off x="16327300" y="42291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/>
          <p:cNvSpPr/>
          <p:nvPr/>
        </p:nvSpPr>
        <p:spPr>
          <a:xfrm>
            <a:off x="9220200" y="8343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11734800" y="11049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art 8"/>
          <p:cNvSpPr/>
          <p:nvPr/>
        </p:nvSpPr>
        <p:spPr>
          <a:xfrm>
            <a:off x="2895600" y="85725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/>
          <p:cNvSpPr/>
          <p:nvPr/>
        </p:nvSpPr>
        <p:spPr>
          <a:xfrm>
            <a:off x="16002000" y="77343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17481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56249" y="2579698"/>
            <a:ext cx="11683751" cy="5620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72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352115" y="571500"/>
            <a:ext cx="14107085" cy="2100795"/>
          </a:xfrm>
        </p:spPr>
        <p:txBody>
          <a:bodyPr/>
          <a:lstStyle/>
          <a:p>
            <a:r>
              <a:rPr lang="en-US" dirty="0" smtClean="0"/>
              <a:t>SOCIAL IMPACT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72588" y="3574678"/>
            <a:ext cx="13419812" cy="6293222"/>
          </a:xfrm>
        </p:spPr>
        <p:txBody>
          <a:bodyPr>
            <a:normAutofit/>
          </a:bodyPr>
          <a:lstStyle/>
          <a:p>
            <a:r>
              <a:rPr lang="en-US" dirty="0" smtClean="0"/>
              <a:t>It will foster a supportive learning environment where individuals can develop essential life skills like problem </a:t>
            </a:r>
            <a:r>
              <a:rPr lang="en-US" dirty="0" err="1" smtClean="0"/>
              <a:t>solvingand</a:t>
            </a:r>
            <a:r>
              <a:rPr lang="en-US" dirty="0" smtClean="0"/>
              <a:t> critical thinking.</a:t>
            </a:r>
          </a:p>
          <a:p>
            <a:r>
              <a:rPr lang="en-US" dirty="0" smtClean="0"/>
              <a:t>It provides gender equality since it empowers both boys and girls  to overcome personal challenges and build confidence.</a:t>
            </a:r>
          </a:p>
          <a:p>
            <a:r>
              <a:rPr lang="en-US" dirty="0" smtClean="0"/>
              <a:t>The game can also foster a mindset of resilience and adaptability which are crucial for navigating the challenges of the modern job market.</a:t>
            </a:r>
          </a:p>
          <a:p>
            <a:r>
              <a:rPr lang="en-US" dirty="0" smtClean="0"/>
              <a:t>“CHALLENGE CONQUEROR” is a game that has a positive  impact on individuals and society as a </a:t>
            </a:r>
            <a:r>
              <a:rPr lang="en-US" dirty="0" err="1" smtClean="0"/>
              <a:t>whole,contributing</a:t>
            </a:r>
            <a:r>
              <a:rPr lang="en-US" dirty="0" smtClean="0"/>
              <a:t> to a more equitable ,just and sustainable future.</a:t>
            </a:r>
            <a:endParaRPr lang="en-US" dirty="0"/>
          </a:p>
        </p:txBody>
      </p:sp>
      <p:sp>
        <p:nvSpPr>
          <p:cNvPr id="8" name="5-Point Star 7"/>
          <p:cNvSpPr/>
          <p:nvPr/>
        </p:nvSpPr>
        <p:spPr>
          <a:xfrm>
            <a:off x="17221200" y="77343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5-Point Star 8"/>
          <p:cNvSpPr/>
          <p:nvPr/>
        </p:nvSpPr>
        <p:spPr>
          <a:xfrm>
            <a:off x="8458200" y="74295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/>
          <p:cNvSpPr/>
          <p:nvPr/>
        </p:nvSpPr>
        <p:spPr>
          <a:xfrm>
            <a:off x="2743200" y="7855322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/>
          <p:cNvSpPr/>
          <p:nvPr/>
        </p:nvSpPr>
        <p:spPr>
          <a:xfrm>
            <a:off x="10515600" y="5715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eart 11"/>
          <p:cNvSpPr/>
          <p:nvPr/>
        </p:nvSpPr>
        <p:spPr>
          <a:xfrm>
            <a:off x="13030200" y="72009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eart 12"/>
          <p:cNvSpPr/>
          <p:nvPr/>
        </p:nvSpPr>
        <p:spPr>
          <a:xfrm>
            <a:off x="4800600" y="91821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06702"/>
            <a:ext cx="14180848" cy="815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1330" lvl="1" algn="l">
              <a:lnSpc>
                <a:spcPts val="6549"/>
              </a:lnSpc>
            </a:pPr>
            <a:r>
              <a:rPr lang="en-US" sz="4366" spc="21" dirty="0" smtClean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 would like you to financially support me by investing in my project</a:t>
            </a:r>
            <a:endParaRPr lang="en-US" sz="4366" spc="21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6549"/>
              </a:lnSpc>
            </a:pPr>
            <a:endParaRPr lang="en-US" sz="4366" spc="21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71330" lvl="1" algn="l">
              <a:lnSpc>
                <a:spcPts val="6549"/>
              </a:lnSpc>
            </a:pPr>
            <a:r>
              <a:rPr lang="en-US" sz="4366" spc="21" dirty="0" smtClean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 would use the funds to expand my project ;  second I will  hiring more game developers to expand my  company to generate more games as we help our nation curb the problem of employment </a:t>
            </a:r>
            <a:endParaRPr lang="en-US" sz="4366" spc="21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9364"/>
              </a:lnSpc>
            </a:pPr>
            <a:endParaRPr lang="en-US" sz="4366" spc="21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8739"/>
              </a:lnSpc>
            </a:pPr>
            <a:endParaRPr lang="en-US" sz="4366" spc="21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657822"/>
            <a:ext cx="689673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Our Ask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3868400" y="39243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art 4"/>
          <p:cNvSpPr/>
          <p:nvPr/>
        </p:nvSpPr>
        <p:spPr>
          <a:xfrm>
            <a:off x="6172200" y="13335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609600" y="43815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art 6"/>
          <p:cNvSpPr/>
          <p:nvPr/>
        </p:nvSpPr>
        <p:spPr>
          <a:xfrm>
            <a:off x="11049000" y="88773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oon 7"/>
          <p:cNvSpPr/>
          <p:nvPr/>
        </p:nvSpPr>
        <p:spPr>
          <a:xfrm>
            <a:off x="3505200" y="9410700"/>
            <a:ext cx="457200" cy="9144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on 8"/>
          <p:cNvSpPr/>
          <p:nvPr/>
        </p:nvSpPr>
        <p:spPr>
          <a:xfrm>
            <a:off x="10591800" y="1333500"/>
            <a:ext cx="457200" cy="9144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/>
          <p:cNvSpPr/>
          <p:nvPr/>
        </p:nvSpPr>
        <p:spPr>
          <a:xfrm>
            <a:off x="7086600" y="36195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art 10"/>
          <p:cNvSpPr/>
          <p:nvPr/>
        </p:nvSpPr>
        <p:spPr>
          <a:xfrm>
            <a:off x="16687800" y="8191500"/>
            <a:ext cx="914400" cy="9144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05725" y="1028700"/>
            <a:ext cx="13944632" cy="1985652"/>
            <a:chOff x="0" y="0"/>
            <a:chExt cx="18592843" cy="2647536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8592843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u="none" dirty="0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Team Members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39934"/>
              <a:ext cx="16429858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 lang="en-US" sz="3199" b="1" dirty="0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365905" y="1714500"/>
            <a:ext cx="2637502" cy="2637492"/>
            <a:chOff x="0" y="-8052109"/>
            <a:chExt cx="6350000" cy="6349975"/>
          </a:xfrm>
        </p:grpSpPr>
        <p:sp>
          <p:nvSpPr>
            <p:cNvPr id="6" name="textbox 12" hidden="1"/>
            <p:cNvSpPr/>
            <p:nvPr/>
          </p:nvSpPr>
          <p:spPr>
            <a:xfrm>
              <a:off x="0" y="-8052109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dirty="0" smtClean="0"/>
                <a:t>      14</a:t>
              </a:r>
              <a:endParaRPr lang="en-US" dirty="0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039600" y="3619500"/>
            <a:ext cx="2637502" cy="2637492"/>
            <a:chOff x="0" y="-2065851"/>
            <a:chExt cx="6350000" cy="6349975"/>
          </a:xfrm>
          <a:effectLst>
            <a:glow rad="228600">
              <a:schemeClr val="accent5">
                <a:satMod val="175000"/>
                <a:alpha val="40000"/>
              </a:schemeClr>
            </a:glow>
            <a:reflection blurRad="6350" stA="50000" endA="300" endPos="900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</p:grpSpPr>
        <p:sp>
          <p:nvSpPr>
            <p:cNvPr id="8" name="Freeform 8"/>
            <p:cNvSpPr/>
            <p:nvPr/>
          </p:nvSpPr>
          <p:spPr>
            <a:xfrm>
              <a:off x="0" y="-2065851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25000" b="-25000"/>
              </a:stretch>
            </a:blipFill>
            <a:ln>
              <a:noFill/>
            </a:ln>
            <a:effectLst>
              <a:outerShdw blurRad="225425" dist="50800" dir="5220000" algn="ctr">
                <a:srgbClr val="000000">
                  <a:alpha val="33000"/>
                </a:srgbClr>
              </a:outerShdw>
            </a:effectLst>
            <a:sp3d extrusionH="254000" contourW="19050">
              <a:bevelT w="82550" h="44450" prst="angle"/>
              <a:bevelB w="82550" h="44450" prst="angle"/>
              <a:contourClr>
                <a:srgbClr val="FFFFFF"/>
              </a:contourClr>
            </a:sp3d>
          </p:spPr>
          <p:txBody>
            <a:bodyPr/>
            <a:lstStyle/>
            <a:p>
              <a:r>
                <a:rPr lang="en-US" dirty="0" smtClean="0"/>
                <a:t>DEV                                                                                           PROGRAMER </a:t>
              </a:r>
              <a:endParaRPr lang="en-US" dirty="0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3105725" y="4000500"/>
            <a:ext cx="2637502" cy="2637492"/>
            <a:chOff x="0" y="0"/>
            <a:chExt cx="6350000" cy="6349975"/>
          </a:xfrm>
          <a:effectLst>
            <a:glow rad="228600">
              <a:schemeClr val="accent5">
                <a:satMod val="175000"/>
                <a:alpha val="40000"/>
              </a:schemeClr>
            </a:glow>
            <a:reflection blurRad="6350" stA="50000" endA="300" endPos="90000" dir="5400000" sy="-100000" algn="bl" rotWithShape="0"/>
          </a:effectLst>
          <a:scene3d>
            <a:camera prst="isometricOffAxis1Left"/>
            <a:lightRig rig="flood" dir="t">
              <a:rot lat="0" lon="0" rev="13800000"/>
            </a:lightRig>
          </a:scene3d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48661" r="-1337"/>
              </a:stretch>
            </a:blipFill>
            <a:ln>
              <a:noFill/>
            </a:ln>
            <a:effectLst>
              <a:outerShdw blurRad="184150" dist="241300" dir="11520000" sx="110000" sy="110000" algn="ctr">
                <a:srgbClr val="000000">
                  <a:alpha val="18000"/>
                </a:srgbClr>
              </a:outerShdw>
            </a:effectLst>
            <a:sp3d extrusionH="107950" prstMaterial="plastic">
              <a:bevelT w="82550" h="63500" prst="divot"/>
              <a:bevelB/>
            </a:sp3d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735815" y="5401608"/>
            <a:ext cx="2637502" cy="2637492"/>
            <a:chOff x="0" y="940520"/>
            <a:chExt cx="6350000" cy="6349975"/>
          </a:xfrm>
          <a:effectLst>
            <a:glow rad="228600">
              <a:schemeClr val="accent5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  <a:reflection blurRad="6350" stA="50000" endA="300" endPos="900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</p:grpSpPr>
        <p:sp>
          <p:nvSpPr>
            <p:cNvPr id="12" name="Freeform 12"/>
            <p:cNvSpPr/>
            <p:nvPr/>
          </p:nvSpPr>
          <p:spPr>
            <a:xfrm>
              <a:off x="0" y="94052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t="-7611" b="-42388"/>
              </a:stretch>
            </a:blipFill>
            <a:ln>
              <a:noFill/>
            </a:ln>
            <a:effectLst>
              <a:outerShdw blurRad="225425" dist="50800" dir="5220000" algn="ctr">
                <a:srgbClr val="000000">
                  <a:alpha val="33000"/>
                </a:srgbClr>
              </a:outerShdw>
            </a:effectLst>
            <a:sp3d extrusionH="254000" contourW="19050">
              <a:bevelT w="82550" h="44450" prst="angle"/>
              <a:bevelB w="82550" h="44450" prst="angle"/>
              <a:contourClr>
                <a:srgbClr val="FFFFFF"/>
              </a:contourClr>
            </a:sp3d>
          </p:spPr>
        </p:sp>
      </p:grpSp>
      <p:sp>
        <p:nvSpPr>
          <p:cNvPr id="15" name="TextBox 15"/>
          <p:cNvSpPr txBox="1"/>
          <p:nvPr/>
        </p:nvSpPr>
        <p:spPr>
          <a:xfrm>
            <a:off x="3209612" y="7048500"/>
            <a:ext cx="2429727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S</a:t>
            </a:r>
            <a:r>
              <a:rPr lang="en-US" sz="2699" dirty="0" smtClean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ky </a:t>
            </a:r>
            <a:r>
              <a:rPr lang="en-US" sz="2699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</a:t>
            </a:r>
            <a:r>
              <a:rPr lang="en-US" sz="2699" dirty="0" smtClean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reasure</a:t>
            </a:r>
          </a:p>
          <a:p>
            <a:pPr algn="ctr">
              <a:lnSpc>
                <a:spcPts val="3779"/>
              </a:lnSpc>
            </a:pPr>
            <a:r>
              <a:rPr lang="en-US" sz="2699" dirty="0" smtClean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GAME DESINER</a:t>
            </a:r>
            <a:endParaRPr lang="en-US" sz="2699" dirty="0">
              <a:solidFill>
                <a:srgbClr val="90113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839702" y="8203911"/>
            <a:ext cx="2429727" cy="1846659"/>
            <a:chOff x="0" y="-19050"/>
            <a:chExt cx="3239636" cy="2462209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"/>
              <a:ext cx="3239636" cy="2462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</a:pPr>
              <a:r>
                <a:rPr lang="en-US" sz="3000" b="1" dirty="0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Justine </a:t>
              </a:r>
              <a:r>
                <a:rPr lang="en-US" sz="3000" b="1" dirty="0" err="1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</a:t>
              </a:r>
              <a:r>
                <a:rPr lang="en-US" sz="3000" b="1" dirty="0" err="1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revour</a:t>
              </a:r>
              <a:endParaRPr lang="en-US" sz="3000" b="1" dirty="0" smtClean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endParaRPr>
            </a:p>
            <a:p>
              <a:pPr marL="0" lvl="0" indent="0" algn="ctr">
                <a:lnSpc>
                  <a:spcPts val="3600"/>
                </a:lnSpc>
              </a:pPr>
              <a:r>
                <a:rPr lang="en-US" sz="3000" b="1" u="none" dirty="0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UI/UX DESIGNER</a:t>
              </a:r>
              <a:endParaRPr lang="en-US" sz="30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816629"/>
              <a:ext cx="3239636" cy="64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endParaRPr lang="en-US" sz="2699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5" name="AutoShape 25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26" name="Freeform 26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r="-174813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34634" y="-84320"/>
            <a:ext cx="10455640" cy="10455640"/>
          </a:xfrm>
          <a:custGeom>
            <a:avLst/>
            <a:gdLst/>
            <a:ahLst/>
            <a:cxnLst/>
            <a:rect l="l" t="t" r="r" b="b"/>
            <a:pathLst>
              <a:path w="10455640" h="10455640">
                <a:moveTo>
                  <a:pt x="0" y="0"/>
                </a:moveTo>
                <a:lnTo>
                  <a:pt x="10455640" y="0"/>
                </a:lnTo>
                <a:lnTo>
                  <a:pt x="10455640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Brush/>
                      </a14:imgEffect>
                    </a14:imgLayer>
                  </a14:imgProps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effectLst>
            <a:glow rad="228600">
              <a:schemeClr val="accent2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 smtClean="0"/>
              <a:t>cc</a:t>
            </a:r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4044460" y="3615931"/>
            <a:ext cx="10199079" cy="3055138"/>
            <a:chOff x="0" y="0"/>
            <a:chExt cx="13598772" cy="4073517"/>
          </a:xfrm>
        </p:grpSpPr>
        <p:sp>
          <p:nvSpPr>
            <p:cNvPr id="4" name="TextBox 4"/>
            <p:cNvSpPr txBox="1"/>
            <p:nvPr/>
          </p:nvSpPr>
          <p:spPr>
            <a:xfrm>
              <a:off x="0" y="285750"/>
              <a:ext cx="13598772" cy="2762250"/>
            </a:xfrm>
            <a:prstGeom prst="rect">
              <a:avLst/>
            </a:prstGeom>
            <a:effectLst>
              <a:glow rad="228600">
                <a:schemeClr val="accent1">
                  <a:satMod val="175000"/>
                  <a:alpha val="40000"/>
                </a:schemeClr>
              </a:glow>
              <a:reflection blurRad="6350" stA="50000" endA="295" endPos="92000" dist="101600" dir="5400000" sy="-100000" algn="bl" rotWithShape="0"/>
            </a:effectLst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00"/>
                </a:lnSpc>
              </a:pPr>
              <a:r>
                <a:rPr lang="en-US" sz="15000" b="1" dirty="0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Thank you!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365915"/>
              <a:ext cx="13219076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endParaRPr lang="en-US" sz="3199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4892730" y="1028700"/>
            <a:ext cx="2793363" cy="1396681"/>
          </a:xfrm>
          <a:custGeom>
            <a:avLst/>
            <a:gdLst/>
            <a:ahLst/>
            <a:cxnLst/>
            <a:rect l="l" t="t" r="r" b="b"/>
            <a:pathLst>
              <a:path w="2793363" h="1396681">
                <a:moveTo>
                  <a:pt x="0" y="0"/>
                </a:moveTo>
                <a:lnTo>
                  <a:pt x="2793363" y="0"/>
                </a:lnTo>
                <a:lnTo>
                  <a:pt x="2793363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825260" y="6798102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29257" y="893789"/>
            <a:ext cx="1079292" cy="269823"/>
          </a:xfrm>
          <a:custGeom>
            <a:avLst/>
            <a:gdLst/>
            <a:ahLst/>
            <a:cxnLst/>
            <a:rect l="l" t="t" r="r" b="b"/>
            <a:pathLst>
              <a:path w="1079292" h="269823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17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FOLLOW ME ON FACEBOOK @ </a:t>
            </a:r>
            <a:r>
              <a:rPr lang="en-US" dirty="0" err="1" smtClean="0"/>
              <a:t>Tamsi</a:t>
            </a:r>
            <a:r>
              <a:rPr lang="en-US" dirty="0" smtClean="0"/>
              <a:t> Sky</a:t>
            </a:r>
            <a:endParaRPr lang="en-US" sz="8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Heart 11"/>
          <p:cNvSpPr/>
          <p:nvPr/>
        </p:nvSpPr>
        <p:spPr>
          <a:xfrm>
            <a:off x="11887200" y="1028700"/>
            <a:ext cx="914400" cy="914400"/>
          </a:xfrm>
          <a:prstGeom prst="hear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5-Point Star 12"/>
          <p:cNvSpPr/>
          <p:nvPr/>
        </p:nvSpPr>
        <p:spPr>
          <a:xfrm>
            <a:off x="6858000" y="84963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Heart 13"/>
          <p:cNvSpPr/>
          <p:nvPr/>
        </p:nvSpPr>
        <p:spPr>
          <a:xfrm>
            <a:off x="16459200" y="8267700"/>
            <a:ext cx="914400" cy="914400"/>
          </a:xfrm>
          <a:prstGeom prst="heart">
            <a:avLst/>
          </a:prstGeom>
          <a:ln>
            <a:solidFill>
              <a:srgbClr val="FFC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8D4585"/>
      </a:dk2>
      <a:lt2>
        <a:srgbClr val="E7E6E6"/>
      </a:lt2>
      <a:accent1>
        <a:srgbClr val="F35AE6"/>
      </a:accent1>
      <a:accent2>
        <a:srgbClr val="FC5283"/>
      </a:accent2>
      <a:accent3>
        <a:srgbClr val="F67C64"/>
      </a:accent3>
      <a:accent4>
        <a:srgbClr val="F89F65"/>
      </a:accent4>
      <a:accent5>
        <a:srgbClr val="55C6BA"/>
      </a:accent5>
      <a:accent6>
        <a:srgbClr val="84A3FD"/>
      </a:accent6>
      <a:hlink>
        <a:srgbClr val="6ED4F6"/>
      </a:hlink>
      <a:folHlink>
        <a:srgbClr val="9FECFC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250</TotalTime>
  <Words>701</Words>
  <Application>Microsoft Office PowerPoint</Application>
  <PresentationFormat>Custom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Barlow Semi-Bold</vt:lpstr>
      <vt:lpstr>Arial</vt:lpstr>
      <vt:lpstr>Canva Sans</vt:lpstr>
      <vt:lpstr>Trebuchet MS</vt:lpstr>
      <vt:lpstr>Barlow Bold</vt:lpstr>
      <vt:lpstr>Garet</vt:lpstr>
      <vt:lpstr>Barlow Medium</vt:lpstr>
      <vt:lpstr>Barlow Medium Italics</vt:lpstr>
      <vt:lpstr>Barlow</vt:lpstr>
      <vt:lpstr>Berlin</vt:lpstr>
      <vt:lpstr>PowerPoint Presentation</vt:lpstr>
      <vt:lpstr>PowerPoint Presentation</vt:lpstr>
      <vt:lpstr>PowerPoint Presentation</vt:lpstr>
      <vt:lpstr>solution</vt:lpstr>
      <vt:lpstr>PowerPoint Presentation</vt:lpstr>
      <vt:lpstr>PowerPoint Presentation</vt:lpstr>
      <vt:lpstr>PowerPoint Presentation</vt:lpstr>
      <vt:lpstr>Examples of other competitors</vt:lpstr>
      <vt:lpstr>WHAT MAKES ME UNIQUE ?</vt:lpstr>
      <vt:lpstr>PowerPoint Presentation</vt:lpstr>
      <vt:lpstr>HOW TO GENERATE FUNDS</vt:lpstr>
      <vt:lpstr>PowerPoint Presentation</vt:lpstr>
      <vt:lpstr>SOCIAL IMPACT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PLP Standard Pitch Deck Template</dc:title>
  <dc:creator>ADMIN</dc:creator>
  <cp:lastModifiedBy>ADMIN</cp:lastModifiedBy>
  <cp:revision>27</cp:revision>
  <dcterms:created xsi:type="dcterms:W3CDTF">2006-08-16T00:00:00Z</dcterms:created>
  <dcterms:modified xsi:type="dcterms:W3CDTF">2025-01-13T10:29:00Z</dcterms:modified>
  <dc:identifier>DAGRQhOMgco</dc:identifier>
</cp:coreProperties>
</file>